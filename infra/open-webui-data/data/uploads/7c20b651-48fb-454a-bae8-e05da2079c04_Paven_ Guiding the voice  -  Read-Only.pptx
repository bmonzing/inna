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10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"/>
  </p:notesMasterIdLst>
  <p:sldIdLst>
    <p:sldId id="256" r:id="rId2"/>
  </p:sldIdLst>
  <p:sldSz cx="9144000" cy="5143500" type="screen16x9"/>
  <p:notesSz cx="6858000" cy="9144000"/>
  <p:embeddedFontLst>
    <p:embeddedFont>
      <p:font typeface="Montserrat" pitchFamily="2" charset="77"/>
      <p:regular r:id="rId4"/>
      <p:bold r:id="rId5"/>
      <p:italic r:id="rId6"/>
      <p:boldItalic r:id="rId7"/>
    </p:embeddedFont>
    <p:embeddedFont>
      <p:font typeface="Montserrat SemiBold" panose="020F0502020204030204" pitchFamily="34" charset="0"/>
      <p:regular r:id="rId8"/>
      <p:bold r:id="rId9"/>
      <p:italic r:id="rId10"/>
      <p:boldItalic r:id="rId11"/>
    </p:embeddedFont>
    <p:embeddedFont>
      <p:font typeface="Proxima Nova" panose="02000506030000020004" pitchFamily="2" charset="0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60" d="100"/>
          <a:sy n="160" d="100"/>
        </p:scale>
        <p:origin x="784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font" Target="fonts/font10.fntdata"/><Relationship Id="rId1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21" Type="http://schemas.openxmlformats.org/officeDocument/2006/relationships/customXml" Target="../customXml/item2.xml"/><Relationship Id="rId7" Type="http://schemas.openxmlformats.org/officeDocument/2006/relationships/font" Target="fonts/font4.fntdata"/><Relationship Id="rId12" Type="http://schemas.openxmlformats.org/officeDocument/2006/relationships/font" Target="fonts/font9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5" Type="http://schemas.openxmlformats.org/officeDocument/2006/relationships/font" Target="fonts/font2.fntdata"/><Relationship Id="rId15" Type="http://schemas.openxmlformats.org/officeDocument/2006/relationships/font" Target="fonts/font12.fntdata"/><Relationship Id="rId10" Type="http://schemas.openxmlformats.org/officeDocument/2006/relationships/font" Target="fonts/font7.fntdata"/><Relationship Id="rId19" Type="http://schemas.openxmlformats.org/officeDocument/2006/relationships/tableStyles" Target="tableStyles.xml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font" Target="fonts/font11.fntdata"/><Relationship Id="rId22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2a3f650d2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2a3f650d2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0E0E3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body" idx="1"/>
          </p:nvPr>
        </p:nvSpPr>
        <p:spPr>
          <a:xfrm>
            <a:off x="553325" y="2581625"/>
            <a:ext cx="1804800" cy="1611900"/>
          </a:xfrm>
          <a:prstGeom prst="rect">
            <a:avLst/>
          </a:prstGeom>
          <a:solidFill>
            <a:srgbClr val="F3F6FF"/>
          </a:solidFill>
        </p:spPr>
        <p:txBody>
          <a:bodyPr spcFirstLastPara="1" wrap="square" lIns="91425" tIns="91425" rIns="91425" bIns="91425" anchor="t" anchorCtr="0">
            <a:normAutofit fontScale="40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endParaRPr sz="14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endParaRPr sz="11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Place trust in those that have </a:t>
            </a:r>
            <a:r>
              <a:rPr lang="en" b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successfully walked the same path they are on now, and are in possession of hard-won wisdom</a:t>
            </a:r>
            <a:r>
              <a:rPr lang="en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lang="en" b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and experience</a:t>
            </a:r>
            <a:r>
              <a:rPr lang="en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as a result. </a:t>
            </a:r>
            <a:endParaRPr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At the same time, they </a:t>
            </a:r>
            <a:r>
              <a:rPr lang="en" b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strongly prefer to do things for themselves and want to understand every aspect of their pursuits</a:t>
            </a:r>
            <a:r>
              <a:rPr lang="en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– even when consulting with experts.</a:t>
            </a:r>
            <a:endParaRPr b="1" i="1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sz="125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body" idx="1"/>
          </p:nvPr>
        </p:nvSpPr>
        <p:spPr>
          <a:xfrm>
            <a:off x="3067177" y="1301200"/>
            <a:ext cx="2921700" cy="3050400"/>
          </a:xfrm>
          <a:prstGeom prst="rect">
            <a:avLst/>
          </a:prstGeom>
          <a:solidFill>
            <a:srgbClr val="F3F6FF"/>
          </a:solidFill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br>
              <a:rPr lang="en" b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</a:br>
            <a:r>
              <a:rPr lang="en" sz="1400" b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Street Smart</a:t>
            </a:r>
            <a:r>
              <a:rPr lang="en" sz="1200" b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lang="en" sz="11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– not the jargon of Wall Street, not the voice of celebrity influencers, and </a:t>
            </a:r>
            <a:r>
              <a:rPr lang="en" sz="1100" i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not the style of online content marketers</a:t>
            </a:r>
            <a:r>
              <a:rPr lang="en" sz="11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.</a:t>
            </a:r>
            <a:endParaRPr sz="11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 sz="1400" b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Direct</a:t>
            </a:r>
            <a:r>
              <a:rPr lang="en"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lang="en" sz="11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– which </a:t>
            </a:r>
            <a:r>
              <a:rPr lang="en" sz="1100" i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doesn’t have to mean concise</a:t>
            </a:r>
            <a:r>
              <a:rPr lang="en" sz="11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, as long as it’s not indirect or confusing.</a:t>
            </a:r>
            <a:endParaRPr sz="11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 sz="1400" b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Mentoring</a:t>
            </a:r>
            <a:r>
              <a:rPr lang="en" sz="1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lang="en" sz="11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– the voice of an experienced manager at work who guides and </a:t>
            </a:r>
            <a:r>
              <a:rPr lang="en" sz="1100" i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leads by example, but doesn’t interfere</a:t>
            </a:r>
            <a:r>
              <a:rPr lang="en" sz="11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.</a:t>
            </a:r>
            <a:endParaRPr sz="11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 sz="1400" b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Practical</a:t>
            </a:r>
            <a:r>
              <a:rPr lang="en" sz="1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lang="en" sz="11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– offers step-by-step journeys they can use as maps and tools to navigate their own experiences, but </a:t>
            </a:r>
            <a:r>
              <a:rPr lang="en" sz="1100" i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without holding their hand</a:t>
            </a:r>
            <a:r>
              <a:rPr lang="en" sz="11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.</a:t>
            </a:r>
            <a:endParaRPr sz="11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 sz="1400" b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Empathetic</a:t>
            </a:r>
            <a:r>
              <a:rPr lang="en" sz="1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lang="en" sz="11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– </a:t>
            </a:r>
            <a:r>
              <a:rPr lang="en" sz="1100" i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supportive, encouraging, and motivating </a:t>
            </a:r>
            <a:r>
              <a:rPr lang="en" sz="11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without being patronizing, condescending, or judgmental.</a:t>
            </a:r>
            <a:endParaRPr sz="11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6" name="Google Shape;56;p13"/>
          <p:cNvSpPr txBox="1">
            <a:spLocks noGrp="1"/>
          </p:cNvSpPr>
          <p:nvPr>
            <p:ph type="body" idx="1"/>
          </p:nvPr>
        </p:nvSpPr>
        <p:spPr>
          <a:xfrm>
            <a:off x="6460475" y="3647775"/>
            <a:ext cx="2421600" cy="1297800"/>
          </a:xfrm>
          <a:prstGeom prst="rect">
            <a:avLst/>
          </a:prstGeom>
          <a:solidFill>
            <a:srgbClr val="EFEFEF"/>
          </a:solidFill>
        </p:spPr>
        <p:txBody>
          <a:bodyPr spcFirstLastPara="1" wrap="square" lIns="91425" tIns="91425" rIns="91425" bIns="91425" anchor="t" anchorCtr="0">
            <a:normAutofit fontScale="47500" lnSpcReduction="10000"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i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“I want the freedom to pursue my passions but I also need to be a provider of security for others.”</a:t>
            </a:r>
            <a:endParaRPr sz="1100" b="1" i="1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1" i="1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1" i="1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i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“I need to figure it out for myself and have control of the details, but I want to adapt to opportunities and be open to outside resources.” </a:t>
            </a:r>
            <a:endParaRPr sz="1100" b="1" i="1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1" i="1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1" i="1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i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“I trust advice from people that have vetted knowledge and expertise ….. But I relate to people that have gained insight/wisdom from similar life experiences.” </a:t>
            </a:r>
            <a:endParaRPr sz="12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6790900" y="1301200"/>
            <a:ext cx="1891500" cy="2170200"/>
          </a:xfrm>
          <a:prstGeom prst="rect">
            <a:avLst/>
          </a:prstGeom>
          <a:solidFill>
            <a:srgbClr val="F3F6FF"/>
          </a:solidFill>
        </p:spPr>
        <p:txBody>
          <a:bodyPr spcFirstLastPara="1" wrap="square" lIns="91425" tIns="91425" rIns="91425" bIns="91425" anchor="t" anchorCtr="0">
            <a:normAutofit fontScale="47500"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1" i="1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i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“You can have a manager that is not a leader, but in this case, my manager is a leader and a mentor, and I always have one-on-ones with him, what I want to do with my career and we talk about financial planning… </a:t>
            </a:r>
            <a:endParaRPr sz="1200" b="1" i="1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1" i="1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i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He doesn't tell you how to solve a problem, but he kind of hints at the information you can pursue. So I think someone that inspires you to be better. Not someone who just manages you and directs you and orders you, but someone that can inspire good things.”</a:t>
            </a:r>
            <a:endParaRPr b="1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8" name="Google Shape;58;p13"/>
          <p:cNvSpPr/>
          <p:nvPr/>
        </p:nvSpPr>
        <p:spPr>
          <a:xfrm>
            <a:off x="6894850" y="1037725"/>
            <a:ext cx="1608900" cy="367200"/>
          </a:xfrm>
          <a:prstGeom prst="roundRect">
            <a:avLst>
              <a:gd name="adj" fmla="val 16667"/>
            </a:avLst>
          </a:pr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b="1">
                <a:latin typeface="Proxima Nova"/>
                <a:ea typeface="Proxima Nova"/>
                <a:cs typeface="Proxima Nova"/>
                <a:sym typeface="Proxima Nova"/>
              </a:rPr>
              <a:t>Trusted Guide</a:t>
            </a:r>
            <a:endParaRPr b="1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9" name="Google Shape;59;p13"/>
          <p:cNvSpPr/>
          <p:nvPr/>
        </p:nvSpPr>
        <p:spPr>
          <a:xfrm>
            <a:off x="3438050" y="923575"/>
            <a:ext cx="2007000" cy="595500"/>
          </a:xfrm>
          <a:prstGeom prst="roundRect">
            <a:avLst>
              <a:gd name="adj" fmla="val 16667"/>
            </a:avLst>
          </a:pr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b="1">
                <a:latin typeface="Proxima Nova"/>
                <a:ea typeface="Proxima Nova"/>
                <a:cs typeface="Proxima Nova"/>
                <a:sym typeface="Proxima Nova"/>
              </a:rPr>
              <a:t>Vision + Voice</a:t>
            </a:r>
            <a:endParaRPr b="1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4282200" y="238350"/>
            <a:ext cx="3130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4B6AD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Voice of Paven</a:t>
            </a:r>
            <a:endParaRPr sz="10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1" name="Google Shape;61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09801" y="105950"/>
            <a:ext cx="628050" cy="62805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3"/>
          <p:cNvSpPr txBox="1"/>
          <p:nvPr/>
        </p:nvSpPr>
        <p:spPr>
          <a:xfrm>
            <a:off x="1655549" y="188575"/>
            <a:ext cx="5438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Guiding the Voice</a:t>
            </a:r>
            <a:endParaRPr sz="1400" b="1" i="0" u="none" strike="noStrike" cap="none">
              <a:solidFill>
                <a:srgbClr val="20272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" name="Google Shape;63;p13"/>
          <p:cNvSpPr txBox="1">
            <a:spLocks noGrp="1"/>
          </p:cNvSpPr>
          <p:nvPr>
            <p:ph type="body" idx="1"/>
          </p:nvPr>
        </p:nvSpPr>
        <p:spPr>
          <a:xfrm>
            <a:off x="575075" y="1051650"/>
            <a:ext cx="1804800" cy="1067100"/>
          </a:xfrm>
          <a:prstGeom prst="rect">
            <a:avLst/>
          </a:prstGeom>
          <a:solidFill>
            <a:srgbClr val="F3F6FF"/>
          </a:solidFill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en" sz="9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Community that Paven hopes to reach are most receptive to messages that take the form of simple, straightforward, experiential stories mixed with concrete details.</a:t>
            </a:r>
            <a:endParaRPr sz="9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4" name="Google Shape;64;p13"/>
          <p:cNvSpPr/>
          <p:nvPr/>
        </p:nvSpPr>
        <p:spPr>
          <a:xfrm>
            <a:off x="823325" y="733988"/>
            <a:ext cx="1264800" cy="367200"/>
          </a:xfrm>
          <a:prstGeom prst="roundRect">
            <a:avLst>
              <a:gd name="adj" fmla="val 16667"/>
            </a:avLst>
          </a:pr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b="1">
                <a:latin typeface="Proxima Nova"/>
                <a:ea typeface="Proxima Nova"/>
                <a:cs typeface="Proxima Nova"/>
                <a:sym typeface="Proxima Nova"/>
              </a:rPr>
              <a:t>Community</a:t>
            </a:r>
            <a:endParaRPr b="1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5" name="Google Shape;65;p13"/>
          <p:cNvSpPr/>
          <p:nvPr/>
        </p:nvSpPr>
        <p:spPr>
          <a:xfrm>
            <a:off x="575075" y="2263075"/>
            <a:ext cx="1737600" cy="367200"/>
          </a:xfrm>
          <a:prstGeom prst="roundRect">
            <a:avLst>
              <a:gd name="adj" fmla="val 16667"/>
            </a:avLst>
          </a:pr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b="1">
                <a:latin typeface="Proxima Nova"/>
                <a:ea typeface="Proxima Nova"/>
                <a:cs typeface="Proxima Nova"/>
                <a:sym typeface="Proxima Nova"/>
              </a:rPr>
              <a:t>Needs + dilemmas</a:t>
            </a:r>
            <a:endParaRPr b="1"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C969E2290A67B40B23AAEC46BE07916" ma:contentTypeVersion="13" ma:contentTypeDescription="Create a new document." ma:contentTypeScope="" ma:versionID="27a3950f4d5715177bcf931e3e15611a">
  <xsd:schema xmlns:xsd="http://www.w3.org/2001/XMLSchema" xmlns:xs="http://www.w3.org/2001/XMLSchema" xmlns:p="http://schemas.microsoft.com/office/2006/metadata/properties" xmlns:ns2="67eb9fc1-6eb2-4130-bff0-86e2d7b2fa6c" xmlns:ns3="cc4f7e58-aee3-484e-9ced-6ad849805b22" targetNamespace="http://schemas.microsoft.com/office/2006/metadata/properties" ma:root="true" ma:fieldsID="46f63dd54ad6ceb09c66c7d5f173360a" ns2:_="" ns3:_="">
    <xsd:import namespace="67eb9fc1-6eb2-4130-bff0-86e2d7b2fa6c"/>
    <xsd:import namespace="cc4f7e58-aee3-484e-9ced-6ad849805b2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7eb9fc1-6eb2-4130-bff0-86e2d7b2fa6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ca363587-87ea-41e2-9a9e-8270a2079e6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c4f7e58-aee3-484e-9ced-6ad849805b22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6ad6e149-f843-4ea4-af81-8c9aca828c0b}" ma:internalName="TaxCatchAll" ma:showField="CatchAllData" ma:web="cc4f7e58-aee3-484e-9ced-6ad849805b2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c4f7e58-aee3-484e-9ced-6ad849805b22" xsi:nil="true"/>
    <lcf76f155ced4ddcb4097134ff3c332f xmlns="67eb9fc1-6eb2-4130-bff0-86e2d7b2fa6c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8AD4E300-CBCD-4AC2-9FFE-6AD829AAE727}"/>
</file>

<file path=customXml/itemProps2.xml><?xml version="1.0" encoding="utf-8"?>
<ds:datastoreItem xmlns:ds="http://schemas.openxmlformats.org/officeDocument/2006/customXml" ds:itemID="{0DFF8EBE-AB18-4C83-95F0-687AE37236E6}"/>
</file>

<file path=customXml/itemProps3.xml><?xml version="1.0" encoding="utf-8"?>
<ds:datastoreItem xmlns:ds="http://schemas.openxmlformats.org/officeDocument/2006/customXml" ds:itemID="{4BF4B418-2C97-4CCC-9D51-0AF5E51F7FEC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392</Words>
  <Application>Microsoft Macintosh PowerPoint</Application>
  <PresentationFormat>On-screen Show (16:9)</PresentationFormat>
  <Paragraphs>28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Proxima Nova</vt:lpstr>
      <vt:lpstr>Montserrat</vt:lpstr>
      <vt:lpstr>Arial</vt:lpstr>
      <vt:lpstr>Montserrat SemiBold</vt:lpstr>
      <vt:lpstr>Simple Light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Angela King(UST,US)</cp:lastModifiedBy>
  <cp:revision>1</cp:revision>
  <dcterms:modified xsi:type="dcterms:W3CDTF">2025-03-06T20:35:10Z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0x010100CC969E2290A67B40B23AAEC46BE07916</vt:lpwstr>
  </property>
</Properties>
</file>